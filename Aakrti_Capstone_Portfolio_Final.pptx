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akrti1211/Sales-Data-Cleaning-Project" TargetMode="External"/><Relationship Id="rId2" Type="http://schemas.openxmlformats.org/officeDocument/2006/relationships/hyperlink" Target="https://github.com/Aakrti1211/Eda-Business-Intelligence-Dashboard" TargetMode="External"/><Relationship Id="rId3" Type="http://schemas.openxmlformats.org/officeDocument/2006/relationships/hyperlink" Target="https://github.com/Aakrti1211/Deep-Dive-Analysis-Interactive-Dashboard" TargetMode="External"/><Relationship Id="rId4" Type="http://schemas.openxmlformats.org/officeDocument/2006/relationships/hyperlink" Target="https://github.com/Aakrti1211/Data-Storytelling-Statistical-Validation-Project" TargetMode="Externa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4B63E"/>
          </a:solidFill>
          <a:ln w="12700">
            <a:solidFill>
              <a:srgbClr val="F4B63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5943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4B6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CAPSTONE PORTFOLIO  •  DATA STORYTELLING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1234440"/>
            <a:ext cx="8138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Raw Data to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Decisions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58368" y="2880360"/>
            <a:ext cx="6812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D9E1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four-part data analytics internship journey across data cleaning, business intelligence, deep-dive analysis and statistically validated recommendations.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549640" y="941832"/>
            <a:ext cx="2423160" cy="2423160"/>
          </a:xfrm>
          <a:prstGeom prst="arc">
            <a:avLst/>
          </a:prstGeom>
          <a:noFill/>
          <a:ln w="127000">
            <a:solidFill>
              <a:srgbClr val="2331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0" y="1536192"/>
            <a:ext cx="1234440" cy="1234440"/>
          </a:xfrm>
          <a:prstGeom prst="arc">
            <a:avLst/>
          </a:prstGeom>
          <a:noFill/>
          <a:ln w="88900">
            <a:solidFill>
              <a:srgbClr val="3A63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0" y="1993392"/>
            <a:ext cx="320040" cy="320040"/>
          </a:xfrm>
          <a:prstGeom prst="ellipse">
            <a:avLst/>
          </a:prstGeom>
          <a:solidFill>
            <a:srgbClr val="F4B63E"/>
          </a:solidFill>
          <a:ln w="12700">
            <a:solidFill>
              <a:srgbClr val="F4B63E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468172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6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8368" y="5001768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21408" y="5138928"/>
            <a:ext cx="685800" cy="0"/>
          </a:xfrm>
          <a:prstGeom prst="line">
            <a:avLst/>
          </a:prstGeom>
          <a:noFill/>
          <a:ln w="15240">
            <a:solidFill>
              <a:srgbClr val="33436D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2990088" y="468172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B8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990088" y="5001768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53128" y="5138928"/>
            <a:ext cx="685800" cy="0"/>
          </a:xfrm>
          <a:prstGeom prst="line">
            <a:avLst/>
          </a:prstGeom>
          <a:noFill/>
          <a:ln w="15240">
            <a:solidFill>
              <a:srgbClr val="33436D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5321808" y="468172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4B6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21808" y="5001768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DEEP-DIVE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84848" y="5138928"/>
            <a:ext cx="685800" cy="0"/>
          </a:xfrm>
          <a:prstGeom prst="line">
            <a:avLst/>
          </a:prstGeom>
          <a:noFill/>
          <a:ln w="15240">
            <a:solidFill>
              <a:srgbClr val="33436D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7653528" y="468172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56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653528" y="5001768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" y="59161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Aakrti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8368" y="621792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9A8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Analytics Internship  |  ApexPlanet Software Pvt. Ltd.  |  Capstone Deck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80" kern="0" dirty="0">
                <a:solidFill>
                  <a:srgbClr val="3A6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15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Four Tasks, One Analytical Journey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261872"/>
            <a:ext cx="11018520" cy="0"/>
          </a:xfrm>
          <a:prstGeom prst="line">
            <a:avLst/>
          </a:prstGeom>
          <a:noFill/>
          <a:ln w="13970">
            <a:solidFill>
              <a:srgbClr val="DDE4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3017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B87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141732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260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internship progressed from data quality to business decisions, with each task adding a deeper layer of analysis.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066544"/>
            <a:ext cx="2523744" cy="3154680"/>
          </a:xfrm>
          <a:prstGeom prst="roundRect">
            <a:avLst>
              <a:gd name="adj" fmla="val 4710"/>
            </a:avLst>
          </a:prstGeom>
          <a:solidFill>
            <a:srgbClr val="EAF0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49808" y="2267712"/>
            <a:ext cx="411480" cy="274320"/>
          </a:xfrm>
          <a:prstGeom prst="roundRect">
            <a:avLst>
              <a:gd name="adj" fmla="val 50000"/>
            </a:avLst>
          </a:prstGeom>
          <a:solidFill>
            <a:srgbClr val="0B1530"/>
          </a:solidFill>
          <a:ln w="12700">
            <a:solidFill>
              <a:srgbClr val="0B1530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27685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280160" y="22585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3A6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49808" y="272491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15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Task 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49808" y="3236976"/>
            <a:ext cx="2148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260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1,005 raw sales records inspected; missing values, duplicates and date issues addressed.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49808" y="4425696"/>
            <a:ext cx="2103120" cy="0"/>
          </a:xfrm>
          <a:prstGeom prst="line">
            <a:avLst/>
          </a:prstGeom>
          <a:noFill/>
          <a:ln w="12700">
            <a:solidFill>
              <a:srgbClr val="DDE4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460857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5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995 records retained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337560" y="2066544"/>
            <a:ext cx="2523744" cy="3154680"/>
          </a:xfrm>
          <a:prstGeom prst="roundRect">
            <a:avLst>
              <a:gd name="adj" fmla="val 4710"/>
            </a:avLst>
          </a:prstGeom>
          <a:solidFill>
            <a:srgbClr val="E8F8F5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322580000" dist="161290000" dir="162000000000">
              <a:srgbClr val="000000">
                <a:alpha val="140000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520440" y="2267712"/>
            <a:ext cx="411480" cy="274320"/>
          </a:xfrm>
          <a:prstGeom prst="roundRect">
            <a:avLst>
              <a:gd name="adj" fmla="val 50000"/>
            </a:avLst>
          </a:prstGeom>
          <a:solidFill>
            <a:srgbClr val="0B1530"/>
          </a:solidFill>
          <a:ln w="12700">
            <a:solidFill>
              <a:srgbClr val="0B153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20440" y="227685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050792" y="22585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22B8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20440" y="272491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15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Task 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520440" y="3236976"/>
            <a:ext cx="2148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260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 cleaning + Excel BI dashboard used to answer 7 core business questions.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520440" y="4425696"/>
            <a:ext cx="2103120" cy="0"/>
          </a:xfrm>
          <a:prstGeom prst="line">
            <a:avLst/>
          </a:prstGeom>
          <a:noFill/>
          <a:ln w="12700">
            <a:solidFill>
              <a:srgbClr val="DDE4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20440" y="460857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5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1,500 orders analyzed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08192" y="2066544"/>
            <a:ext cx="2523744" cy="3154680"/>
          </a:xfrm>
          <a:prstGeom prst="roundRect">
            <a:avLst>
              <a:gd name="adj" fmla="val 4710"/>
            </a:avLst>
          </a:prstGeom>
          <a:solidFill>
            <a:srgbClr val="FFF5DE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4096766000000" dist="2048383000000" dir="9720000000000000">
              <a:srgbClr val="000000">
                <a:alpha val="14000000000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91072" y="2267712"/>
            <a:ext cx="411480" cy="274320"/>
          </a:xfrm>
          <a:prstGeom prst="roundRect">
            <a:avLst>
              <a:gd name="adj" fmla="val 50000"/>
            </a:avLst>
          </a:prstGeom>
          <a:solidFill>
            <a:srgbClr val="0B1530"/>
          </a:solidFill>
          <a:ln w="12700">
            <a:solidFill>
              <a:srgbClr val="0B1530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91072" y="227685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821424" y="22585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F4B6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DEEP-DIVE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91072" y="272491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15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Task 3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291072" y="3236976"/>
            <a:ext cx="2148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260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+ Tableau used to define KPIs and examine sales versus profit by category and segment.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91072" y="4425696"/>
            <a:ext cx="2103120" cy="0"/>
          </a:xfrm>
          <a:prstGeom prst="line">
            <a:avLst/>
          </a:prstGeom>
          <a:noFill/>
          <a:ln w="12700">
            <a:solidFill>
              <a:srgbClr val="DDE4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91072" y="460857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5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5,111 orders · 4 yrs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878824" y="2066544"/>
            <a:ext cx="2523744" cy="3154680"/>
          </a:xfrm>
          <a:prstGeom prst="roundRect">
            <a:avLst>
              <a:gd name="adj" fmla="val 4710"/>
            </a:avLst>
          </a:prstGeom>
          <a:solidFill>
            <a:srgbClr val="FCEAE7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52028928200000000" dist="26014464100000000" dir="583200000000000000000">
              <a:srgbClr val="000000">
                <a:alpha val="1400000000000000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061704" y="2267712"/>
            <a:ext cx="411480" cy="274320"/>
          </a:xfrm>
          <a:prstGeom prst="roundRect">
            <a:avLst>
              <a:gd name="adj" fmla="val 50000"/>
            </a:avLst>
          </a:prstGeom>
          <a:solidFill>
            <a:srgbClr val="0B1530"/>
          </a:solidFill>
          <a:ln w="12700">
            <a:solidFill>
              <a:srgbClr val="0B1530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61704" y="227685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592056" y="22585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E56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061704" y="272491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15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Task 4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9061704" y="3236976"/>
            <a:ext cx="2148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260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profitability observation was converted into a hypothesis and tested statistically.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061704" y="4425696"/>
            <a:ext cx="2103120" cy="0"/>
          </a:xfrm>
          <a:prstGeom prst="line">
            <a:avLst/>
          </a:prstGeom>
          <a:noFill/>
          <a:ln w="12700">
            <a:solidFill>
              <a:srgbClr val="DDE4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061704" y="460857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5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&lt; 0.001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66928" y="6556248"/>
            <a:ext cx="10424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7B87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Aakrti  |  Data Analytics Internship  |  ApexPlanet Software Pvt. Ltd.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80" kern="0" dirty="0">
                <a:solidFill>
                  <a:srgbClr val="3A6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1 · DATA CLEANING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15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Building a Reliable Base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261872"/>
            <a:ext cx="11018520" cy="0"/>
          </a:xfrm>
          <a:prstGeom prst="line">
            <a:avLst/>
          </a:prstGeom>
          <a:noFill/>
          <a:ln w="13970">
            <a:solidFill>
              <a:srgbClr val="DDE4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3017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B87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1426464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260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Sales_Dataset_1005.csv → cleaned with Python &amp; Pandas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" y="1874520"/>
            <a:ext cx="4754880" cy="406908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660767388140000000000" dist="330383694070000000000" dir="3.4992e+25">
              <a:srgbClr val="000000">
                <a:alpha val="1.4e+24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21214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3A6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ISSUES IDENTIFIED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" y="2587752"/>
            <a:ext cx="329184" cy="329184"/>
          </a:xfrm>
          <a:prstGeom prst="ellipse">
            <a:avLst/>
          </a:prstGeom>
          <a:solidFill>
            <a:srgbClr val="3A63FF"/>
          </a:solidFill>
          <a:ln w="12700">
            <a:solidFill>
              <a:srgbClr val="3A63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596896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98448" y="25786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6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Age values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" y="3118104"/>
            <a:ext cx="329184" cy="329184"/>
          </a:xfrm>
          <a:prstGeom prst="ellipse">
            <a:avLst/>
          </a:prstGeom>
          <a:solidFill>
            <a:srgbClr val="3A63FF"/>
          </a:solidFill>
          <a:ln w="12700">
            <a:solidFill>
              <a:srgbClr val="3A63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127248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98448" y="31089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6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Blank customer names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" y="3648456"/>
            <a:ext cx="329184" cy="329184"/>
          </a:xfrm>
          <a:prstGeom prst="ellipse">
            <a:avLst/>
          </a:prstGeom>
          <a:solidFill>
            <a:srgbClr val="3A63FF"/>
          </a:solidFill>
          <a:ln w="12700">
            <a:solidFill>
              <a:srgbClr val="3A63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657600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98448" y="36393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6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Duplicate transaction records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22960" y="4178808"/>
            <a:ext cx="329184" cy="329184"/>
          </a:xfrm>
          <a:prstGeom prst="ellipse">
            <a:avLst/>
          </a:prstGeom>
          <a:solidFill>
            <a:srgbClr val="E56B5D"/>
          </a:solidFill>
          <a:ln w="12700">
            <a:solidFill>
              <a:srgbClr val="E56B5D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187952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298448" y="416966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6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Negative (invalid) sales values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22960" y="4709160"/>
            <a:ext cx="329184" cy="329184"/>
          </a:xfrm>
          <a:prstGeom prst="ellipse">
            <a:avLst/>
          </a:prstGeom>
          <a:solidFill>
            <a:srgbClr val="3A63FF"/>
          </a:solidFill>
          <a:ln w="12700">
            <a:solidFill>
              <a:srgbClr val="3A63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718304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298448" y="470001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6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Inconsistent date formats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22960" y="5285232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260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issue was resolved with a specific rule: median imputation for age, “Unknown Customer” for blank names, de-duplication, removal of invalid rows, and a single standardized date format.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623560" y="1874520"/>
            <a:ext cx="1828800" cy="1252728"/>
          </a:xfrm>
          <a:prstGeom prst="roundRect">
            <a:avLst>
              <a:gd name="adj" fmla="val 8759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8.391745829378e+24" dist="4.195872914689e+24" dir="2.09952e+30">
              <a:srgbClr val="000000">
                <a:alpha val="1.4000000000000002e+29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623560" y="1874520"/>
            <a:ext cx="73152" cy="1252728"/>
          </a:xfrm>
          <a:prstGeom prst="rect">
            <a:avLst/>
          </a:prstGeom>
          <a:solidFill>
            <a:srgbClr val="3A63FF"/>
          </a:solidFill>
          <a:ln w="12700">
            <a:solidFill>
              <a:srgbClr val="3A63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88152" y="203911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15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995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5788152" y="2459736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7B87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RECORDS RETAINED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635240" y="1874520"/>
            <a:ext cx="1828800" cy="1252728"/>
          </a:xfrm>
          <a:prstGeom prst="roundRect">
            <a:avLst>
              <a:gd name="adj" fmla="val 8759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1.0657517203310059e+29" dist="5.3287586016550295e+28" dir="1.259712e+35">
              <a:srgbClr val="000000">
                <a:alpha val="1.4000000000000003e+34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635240" y="1874520"/>
            <a:ext cx="73152" cy="1252728"/>
          </a:xfrm>
          <a:prstGeom prst="rect">
            <a:avLst/>
          </a:prstGeom>
          <a:solidFill>
            <a:srgbClr val="22B8A7"/>
          </a:solidFill>
          <a:ln w="12700">
            <a:solidFill>
              <a:srgbClr val="22B8A7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99832" y="203911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15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7799832" y="2459736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7B87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STANDARDIZED COLUMNS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9646920" y="1874520"/>
            <a:ext cx="1828800" cy="1252728"/>
          </a:xfrm>
          <a:prstGeom prst="roundRect">
            <a:avLst>
              <a:gd name="adj" fmla="val 8759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1.3535046848203775e+33" dist="6.767523424101888e+32" dir="7.558272e+39">
              <a:srgbClr val="000000">
                <a:alpha val="1.4000000000000003e+39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646920" y="1874520"/>
            <a:ext cx="73152" cy="1252728"/>
          </a:xfrm>
          <a:prstGeom prst="rect">
            <a:avLst/>
          </a:prstGeom>
          <a:solidFill>
            <a:srgbClr val="E56B5D"/>
          </a:solidFill>
          <a:ln w="12700">
            <a:solidFill>
              <a:srgbClr val="E56B5D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811512" y="203911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15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2100" dirty="0"/>
          </a:p>
        </p:txBody>
      </p:sp>
      <p:sp>
        <p:nvSpPr>
          <p:cNvPr id="36" name="Text 34"/>
          <p:cNvSpPr/>
          <p:nvPr/>
        </p:nvSpPr>
        <p:spPr>
          <a:xfrm>
            <a:off x="9811512" y="2459736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7B87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NEGATIVE SALES VALUES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623560" y="341985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7B87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GATE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623560" y="3822192"/>
            <a:ext cx="5120640" cy="420624"/>
          </a:xfrm>
          <a:prstGeom prst="roundRect">
            <a:avLst>
              <a:gd name="adj" fmla="val 26087"/>
            </a:avLst>
          </a:prstGeom>
          <a:solidFill>
            <a:srgbClr val="E9EE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33872" y="38862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5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1,005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583680" y="3895344"/>
            <a:ext cx="2560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5260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989320" y="4434840"/>
            <a:ext cx="4389120" cy="420624"/>
          </a:xfrm>
          <a:prstGeom prst="roundRect">
            <a:avLst>
              <a:gd name="adj" fmla="val 26087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99632" y="449884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5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995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949440" y="4507992"/>
            <a:ext cx="2560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5260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RETAINED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355080" y="5047488"/>
            <a:ext cx="3657600" cy="420624"/>
          </a:xfrm>
          <a:prstGeom prst="roundRect">
            <a:avLst>
              <a:gd name="adj" fmla="val 26087"/>
            </a:avLst>
          </a:prstGeom>
          <a:solidFill>
            <a:srgbClr val="E6F8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65392" y="511149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5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315200" y="5120640"/>
            <a:ext cx="2560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5260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ANALYSIS-READY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623560" y="5897880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5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Output: Cleaned_Sales_Dataset.csv — analysis-ready for Tasks 2 &amp; 3.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566928" y="6556248"/>
            <a:ext cx="10424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7B87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Aakrti  |  Data Analytics Internship  |  ApexPlanet Software Pvt. Ltd.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80" kern="0" dirty="0">
                <a:solidFill>
                  <a:srgbClr val="3A6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2 · EDA &amp; BUSINESS INTELLIGENCE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15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Numbers Say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261872"/>
            <a:ext cx="11018520" cy="0"/>
          </a:xfrm>
          <a:prstGeom prst="line">
            <a:avLst/>
          </a:prstGeom>
          <a:noFill/>
          <a:ln w="13970">
            <a:solidFill>
              <a:srgbClr val="DDE4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3017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B87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141732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260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1,500 orders cleaned in SQL and visualized in an interactive Excel dashboard.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" y="1874520"/>
            <a:ext cx="2331720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1.7189509497218795e+37" dist="8.594754748609397e+36" dir="4.5349632000000006e+44">
              <a:srgbClr val="000000">
                <a:alpha val="1.4000000000000002e+44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6928" y="1874520"/>
            <a:ext cx="73152" cy="987552"/>
          </a:xfrm>
          <a:prstGeom prst="rect">
            <a:avLst/>
          </a:prstGeom>
          <a:solidFill>
            <a:srgbClr val="3A63FF"/>
          </a:solidFill>
          <a:ln w="12700">
            <a:solidFill>
              <a:srgbClr val="3A63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39112"/>
            <a:ext cx="2075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15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₹20.73M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31520" y="2459736"/>
            <a:ext cx="2075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7B87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SALES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044952" y="1874520"/>
            <a:ext cx="2331720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2.183067706146787e+41" dist="1.0915338530733935e+41" dir="2.72097792e+49">
              <a:srgbClr val="000000">
                <a:alpha val="1.4000000000000002e+49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044952" y="1874520"/>
            <a:ext cx="73152" cy="987552"/>
          </a:xfrm>
          <a:prstGeom prst="rect">
            <a:avLst/>
          </a:prstGeom>
          <a:solidFill>
            <a:srgbClr val="22B8A7"/>
          </a:solidFill>
          <a:ln w="12700">
            <a:solidFill>
              <a:srgbClr val="22B8A7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9544" y="2039112"/>
            <a:ext cx="2075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15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1,500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3209544" y="2459736"/>
            <a:ext cx="2075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7B87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ORDERS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522976" y="1874520"/>
            <a:ext cx="2331720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2.7724959868064195e+45" dist="1.3862479934032098e+45" dir="1.6325867520000003e+54">
              <a:srgbClr val="000000">
                <a:alpha val="1.4e+54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522976" y="1874520"/>
            <a:ext cx="73152" cy="987552"/>
          </a:xfrm>
          <a:prstGeom prst="rect">
            <a:avLst/>
          </a:prstGeom>
          <a:solidFill>
            <a:srgbClr val="F4B63E"/>
          </a:solidFill>
          <a:ln w="12700">
            <a:solidFill>
              <a:srgbClr val="F4B63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87568" y="2039112"/>
            <a:ext cx="2075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15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4,534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5687568" y="2459736"/>
            <a:ext cx="2075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7B87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UNITS SOLD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001000" y="1874520"/>
            <a:ext cx="2331720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3.5210699032441527e+49" dist="1.7605349516220764e+49" dir="9.795520512000002e+58">
              <a:srgbClr val="000000">
                <a:alpha val="1.4000000000000001e+59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01000" y="1874520"/>
            <a:ext cx="73152" cy="987552"/>
          </a:xfrm>
          <a:prstGeom prst="rect">
            <a:avLst/>
          </a:prstGeom>
          <a:solidFill>
            <a:srgbClr val="E56B5D"/>
          </a:solidFill>
          <a:ln w="12700">
            <a:solidFill>
              <a:srgbClr val="E56B5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65592" y="2039112"/>
            <a:ext cx="2075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15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₹3.82M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8165592" y="2459736"/>
            <a:ext cx="2075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7B87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 SPEND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66928" y="3154680"/>
            <a:ext cx="630936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4.471758777120074e+53" dist="2.235879388560037e+53" dir="5.877312307200001e+63">
              <a:srgbClr val="000000">
                <a:alpha val="1.4e+64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22960" y="34107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7B87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BY REGION  •  ₹ MILLIONS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96112" y="5303520"/>
            <a:ext cx="5440680" cy="0"/>
          </a:xfrm>
          <a:prstGeom prst="line">
            <a:avLst/>
          </a:prstGeom>
          <a:noFill/>
          <a:ln w="12700">
            <a:solidFill>
              <a:srgbClr val="DDE4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96112" y="4115806"/>
            <a:ext cx="927202" cy="1187714"/>
          </a:xfrm>
          <a:prstGeom prst="roundRect">
            <a:avLst>
              <a:gd name="adj" fmla="val 5917"/>
            </a:avLst>
          </a:prstGeom>
          <a:solidFill>
            <a:srgbClr val="3A63FF"/>
          </a:solidFill>
          <a:ln w="12700">
            <a:solidFill>
              <a:srgbClr val="3A63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" y="3887206"/>
            <a:ext cx="10186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6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4.19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2960" y="5468112"/>
            <a:ext cx="10735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260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024482" y="4005255"/>
            <a:ext cx="927202" cy="1298265"/>
          </a:xfrm>
          <a:prstGeom prst="roundRect">
            <a:avLst>
              <a:gd name="adj" fmla="val 5917"/>
            </a:avLst>
          </a:prstGeom>
          <a:solidFill>
            <a:srgbClr val="22B8A7"/>
          </a:solidFill>
          <a:ln w="12700">
            <a:solidFill>
              <a:srgbClr val="22B8A7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978762" y="3776655"/>
            <a:ext cx="10186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B8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4.58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951330" y="5468112"/>
            <a:ext cx="10735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260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East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152851" y="4274546"/>
            <a:ext cx="927202" cy="1028974"/>
          </a:xfrm>
          <a:prstGeom prst="roundRect">
            <a:avLst>
              <a:gd name="adj" fmla="val 5917"/>
            </a:avLst>
          </a:prstGeom>
          <a:solidFill>
            <a:srgbClr val="E56B5D"/>
          </a:solidFill>
          <a:ln w="12700">
            <a:solidFill>
              <a:srgbClr val="E56B5D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07131" y="4045946"/>
            <a:ext cx="10186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56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3.63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079699" y="5468112"/>
            <a:ext cx="10735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260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281221" y="4198010"/>
            <a:ext cx="927202" cy="1105510"/>
          </a:xfrm>
          <a:prstGeom prst="roundRect">
            <a:avLst>
              <a:gd name="adj" fmla="val 5917"/>
            </a:avLst>
          </a:prstGeom>
          <a:solidFill>
            <a:srgbClr val="F4B63E"/>
          </a:solidFill>
          <a:ln w="12700">
            <a:solidFill>
              <a:srgbClr val="F4B63E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35501" y="3969410"/>
            <a:ext cx="10186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B6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3.90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208069" y="5468112"/>
            <a:ext cx="10735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260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South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409590" y="4042105"/>
            <a:ext cx="927202" cy="1261415"/>
          </a:xfrm>
          <a:prstGeom prst="roundRect">
            <a:avLst>
              <a:gd name="adj" fmla="val 5917"/>
            </a:avLst>
          </a:prstGeom>
          <a:solidFill>
            <a:srgbClr val="6D7BEA"/>
          </a:solidFill>
          <a:ln w="12700">
            <a:solidFill>
              <a:srgbClr val="6D7BEA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63870" y="3813505"/>
            <a:ext cx="10186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D7B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4.45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336438" y="5468112"/>
            <a:ext cx="10735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260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West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095744" y="3154680"/>
            <a:ext cx="4526280" cy="2606040"/>
          </a:xfrm>
          <a:prstGeom prst="roundRect">
            <a:avLst>
              <a:gd name="adj" fmla="val 4211"/>
            </a:avLst>
          </a:prstGeom>
          <a:solidFill>
            <a:srgbClr val="0B1530"/>
          </a:solidFill>
          <a:ln w="12700">
            <a:solidFill>
              <a:srgbClr val="0B1530">
                <a:alpha val="0"/>
              </a:srgbClr>
            </a:solidFill>
            <a:prstDash val="solid"/>
          </a:ln>
          <a:effectLst>
            <a:outerShdw sx="100000" sy="100000" kx="0" ky="0" algn="bl" rotWithShape="0" blurRad="5.679133646942494e+57" dist="2.839566823471247e+57" dir="3.526387384320001e+68">
              <a:srgbClr val="000000">
                <a:alpha val="1.4000000000000001e+69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7333488" y="341071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F4B6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BUSINESS QUESTIONS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333488" y="384048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4B6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516368" y="38221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E5EA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revenue-generating product categories</a:t>
            </a:r>
            <a:endParaRPr lang="en-US" sz="1020" dirty="0"/>
          </a:p>
        </p:txBody>
      </p:sp>
      <p:sp>
        <p:nvSpPr>
          <p:cNvPr id="45" name="Text 43"/>
          <p:cNvSpPr/>
          <p:nvPr/>
        </p:nvSpPr>
        <p:spPr>
          <a:xfrm>
            <a:off x="7333488" y="417880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4B6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516368" y="41605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E5EA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Monthly revenue trend</a:t>
            </a:r>
            <a:endParaRPr lang="en-US" sz="1020" dirty="0"/>
          </a:p>
        </p:txBody>
      </p:sp>
      <p:sp>
        <p:nvSpPr>
          <p:cNvPr id="47" name="Text 45"/>
          <p:cNvSpPr/>
          <p:nvPr/>
        </p:nvSpPr>
        <p:spPr>
          <a:xfrm>
            <a:off x="7333488" y="4517136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4B6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516368" y="44988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E5EA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Best-performing sales channels</a:t>
            </a:r>
            <a:endParaRPr lang="en-US" sz="1020" dirty="0"/>
          </a:p>
        </p:txBody>
      </p:sp>
      <p:sp>
        <p:nvSpPr>
          <p:cNvPr id="49" name="Text 47"/>
          <p:cNvSpPr/>
          <p:nvPr/>
        </p:nvSpPr>
        <p:spPr>
          <a:xfrm>
            <a:off x="7333488" y="4855464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4B6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516368" y="483717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E5EA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 spend vs. revenue</a:t>
            </a:r>
            <a:endParaRPr lang="en-US" sz="1020" dirty="0"/>
          </a:p>
        </p:txBody>
      </p:sp>
      <p:sp>
        <p:nvSpPr>
          <p:cNvPr id="51" name="Text 49"/>
          <p:cNvSpPr/>
          <p:nvPr/>
        </p:nvSpPr>
        <p:spPr>
          <a:xfrm>
            <a:off x="7333488" y="519379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4B6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516368" y="51755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E5EA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Regional performance gaps</a:t>
            </a:r>
            <a:endParaRPr lang="en-US" sz="1020" dirty="0"/>
          </a:p>
        </p:txBody>
      </p:sp>
      <p:sp>
        <p:nvSpPr>
          <p:cNvPr id="53" name="Text 51"/>
          <p:cNvSpPr/>
          <p:nvPr/>
        </p:nvSpPr>
        <p:spPr>
          <a:xfrm>
            <a:off x="566928" y="598017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3A6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INSIGHT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280160" y="594360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5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East leads regional revenue; North trails ~21% behind — a gap worth investigating in Task 3.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66928" y="6556248"/>
            <a:ext cx="10424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7B87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Aakrti  |  Data Analytics Internship  |  ApexPlanet Software Pvt. Ltd.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80" kern="0" dirty="0">
                <a:solidFill>
                  <a:srgbClr val="3A6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3 · DEEP-DIVE ANALYSIS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15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Sales Volume Isn’t Profit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261872"/>
            <a:ext cx="11018520" cy="0"/>
          </a:xfrm>
          <a:prstGeom prst="line">
            <a:avLst/>
          </a:prstGeom>
          <a:noFill/>
          <a:ln w="13970">
            <a:solidFill>
              <a:srgbClr val="DDE4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3017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B87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14173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260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Superstore dataset · cleaned in Python · visualized in Tableau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21945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7.212499731616968e+61" dist="3.606249865808484e+61" dir="2.1158324305920003e+73">
              <a:srgbClr val="000000">
                <a:alpha val="1.4e+74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6928" y="1847088"/>
            <a:ext cx="73152" cy="1005840"/>
          </a:xfrm>
          <a:prstGeom prst="rect">
            <a:avLst/>
          </a:prstGeom>
          <a:solidFill>
            <a:srgbClr val="3A63FF"/>
          </a:solidFill>
          <a:ln w="12700">
            <a:solidFill>
              <a:srgbClr val="3A63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11680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15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$2.33M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31520" y="2432304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7B87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SALES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926080" y="1847088"/>
            <a:ext cx="21945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9.15987465915355e+65" dist="4.579937329576775e+65" dir="1.2694994583552002e+78">
              <a:srgbClr val="000000">
                <a:alpha val="1.4e+79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926080" y="1847088"/>
            <a:ext cx="73152" cy="1005840"/>
          </a:xfrm>
          <a:prstGeom prst="rect">
            <a:avLst/>
          </a:prstGeom>
          <a:solidFill>
            <a:srgbClr val="22B8A7"/>
          </a:solidFill>
          <a:ln w="12700">
            <a:solidFill>
              <a:srgbClr val="22B8A7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90672" y="2011680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15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$292K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3090672" y="2432304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7B87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PROFIT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285232" y="1847088"/>
            <a:ext cx="21945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1.1633040817125008e+70" dist="5.816520408562504e+69" dir="7.616996750131201e+82">
              <a:srgbClr val="000000">
                <a:alpha val="1.4000000000000001e+84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285232" y="1847088"/>
            <a:ext cx="73152" cy="1005840"/>
          </a:xfrm>
          <a:prstGeom prst="rect">
            <a:avLst/>
          </a:prstGeom>
          <a:solidFill>
            <a:srgbClr val="F4B63E"/>
          </a:solidFill>
          <a:ln w="12700">
            <a:solidFill>
              <a:srgbClr val="F4B63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49824" y="2011680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15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5,111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5449824" y="2432304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7B87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ORDERS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644384" y="1847088"/>
            <a:ext cx="21945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1.477396183774876e+74" dist="7.38698091887438e+73" dir="4.57019805007872e+87">
              <a:srgbClr val="000000">
                <a:alpha val="1.4000000000000002e+89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644384" y="1847088"/>
            <a:ext cx="73152" cy="1005840"/>
          </a:xfrm>
          <a:prstGeom prst="rect">
            <a:avLst/>
          </a:prstGeom>
          <a:solidFill>
            <a:srgbClr val="E56B5D"/>
          </a:solidFill>
          <a:ln w="12700">
            <a:solidFill>
              <a:srgbClr val="E56B5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08976" y="2011680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15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12.56%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7808976" y="2432304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7B87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 MARGIN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66928" y="3154680"/>
            <a:ext cx="612648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1.8762931533940924e+78" dist="9.381465766970462e+77" dir="2.742118830047232e+92">
              <a:srgbClr val="000000">
                <a:alpha val="1.4000000000000002e+94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22960" y="34290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7B87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 MARGIN BY CATEGORY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60120" y="4965192"/>
            <a:ext cx="5257800" cy="0"/>
          </a:xfrm>
          <a:prstGeom prst="line">
            <a:avLst/>
          </a:prstGeom>
          <a:noFill/>
          <a:ln w="12700">
            <a:solidFill>
              <a:srgbClr val="DDE4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0120" y="4816602"/>
            <a:ext cx="1618488" cy="148590"/>
          </a:xfrm>
          <a:prstGeom prst="roundRect">
            <a:avLst>
              <a:gd name="adj" fmla="val 36923"/>
            </a:avLst>
          </a:prstGeom>
          <a:solidFill>
            <a:srgbClr val="E56B5D"/>
          </a:solidFill>
          <a:ln w="12700">
            <a:solidFill>
              <a:srgbClr val="E56B5D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588002"/>
            <a:ext cx="1709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56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2.6%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86968" y="5129784"/>
            <a:ext cx="1764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260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Furniture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779776" y="3982212"/>
            <a:ext cx="1618488" cy="982980"/>
          </a:xfrm>
          <a:prstGeom prst="roundRect">
            <a:avLst>
              <a:gd name="adj" fmla="val 5581"/>
            </a:avLst>
          </a:prstGeom>
          <a:solidFill>
            <a:srgbClr val="3A63FF"/>
          </a:solidFill>
          <a:ln w="12700">
            <a:solidFill>
              <a:srgbClr val="3A63F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34056" y="3753612"/>
            <a:ext cx="1709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6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17.2%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706624" y="5129784"/>
            <a:ext cx="1764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260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Office Supplies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599432" y="3970782"/>
            <a:ext cx="1618488" cy="994410"/>
          </a:xfrm>
          <a:prstGeom prst="roundRect">
            <a:avLst>
              <a:gd name="adj" fmla="val 5517"/>
            </a:avLst>
          </a:prstGeom>
          <a:solidFill>
            <a:srgbClr val="22B8A7"/>
          </a:solidFill>
          <a:ln w="12700">
            <a:solidFill>
              <a:srgbClr val="22B8A7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53712" y="3742182"/>
            <a:ext cx="1709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B8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17.4%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26280" y="5129784"/>
            <a:ext cx="1764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260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Technology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912864" y="3154680"/>
            <a:ext cx="4727448" cy="2377440"/>
          </a:xfrm>
          <a:prstGeom prst="roundRect">
            <a:avLst>
              <a:gd name="adj" fmla="val 4615"/>
            </a:avLst>
          </a:prstGeom>
          <a:solidFill>
            <a:srgbClr val="FCEAE7"/>
          </a:solidFill>
          <a:ln w="12700">
            <a:solidFill>
              <a:srgbClr val="F5CCC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178040" y="3456432"/>
            <a:ext cx="987552" cy="274320"/>
          </a:xfrm>
          <a:prstGeom prst="roundRect">
            <a:avLst>
              <a:gd name="adj" fmla="val 50000"/>
            </a:avLst>
          </a:prstGeom>
          <a:solidFill>
            <a:srgbClr val="E56B5D"/>
          </a:solidFill>
          <a:ln w="12700">
            <a:solidFill>
              <a:srgbClr val="E56B5D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78040" y="3465576"/>
            <a:ext cx="987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RED FLAG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178040" y="3913632"/>
            <a:ext cx="4005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Furniture generates $754.7K in sales, almost as much as Technology ($839.9K), but returns only $19.7K in profit.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178040" y="4754880"/>
            <a:ext cx="4005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260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large profitability gap emerges and requires statistical validation before becoming a business recommendation.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66928" y="5797296"/>
            <a:ext cx="11064240" cy="438912"/>
          </a:xfrm>
          <a:prstGeom prst="roundRect">
            <a:avLst>
              <a:gd name="adj" fmla="val 29167"/>
            </a:avLst>
          </a:prstGeom>
          <a:solidFill>
            <a:srgbClr val="0B1530"/>
          </a:solidFill>
          <a:ln w="12700">
            <a:solidFill>
              <a:srgbClr val="0B1530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86384" y="588873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F4B6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OBSERVATION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755648" y="5852160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2084832" y="588873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22B8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HYPOTHESIS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044952" y="5852160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401568" y="5888736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3A6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STATISTICAL TEST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800600" y="5852160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148072" y="5888736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E56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ACTION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66928" y="6556248"/>
            <a:ext cx="10424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7B87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Aakrti  |  Data Analytics Internship  |  ApexPlanet Software Pvt. Ltd.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80" kern="0" dirty="0">
                <a:solidFill>
                  <a:srgbClr val="F4B6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4 · HYPOTHESIS FORMULATION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Turning an Observation Into a Testable Claim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261872"/>
            <a:ext cx="11018520" cy="0"/>
          </a:xfrm>
          <a:prstGeom prst="line">
            <a:avLst/>
          </a:prstGeom>
          <a:noFill/>
          <a:ln w="13970">
            <a:solidFill>
              <a:srgbClr val="3343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3017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EAB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1426464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D9E1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key question: is Furniture’s lower profitability meaningfully different from the rest of the categories?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1965960"/>
            <a:ext cx="5257800" cy="2029968"/>
          </a:xfrm>
          <a:prstGeom prst="roundRect">
            <a:avLst>
              <a:gd name="adj" fmla="val 6306"/>
            </a:avLst>
          </a:prstGeom>
          <a:solidFill>
            <a:srgbClr val="142243"/>
          </a:solidFill>
          <a:ln w="12700">
            <a:solidFill>
              <a:srgbClr val="3242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240280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3A63FF"/>
          </a:solidFill>
          <a:ln w="12700">
            <a:solidFill>
              <a:srgbClr val="3A63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24942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H₀  •  NULL HYPOTHESIS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" y="2770632"/>
            <a:ext cx="4617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There is no significant difference in profit margin between the Furniture category and other product categories.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72200" y="1965960"/>
            <a:ext cx="5468112" cy="2029968"/>
          </a:xfrm>
          <a:prstGeom prst="roundRect">
            <a:avLst>
              <a:gd name="adj" fmla="val 6306"/>
            </a:avLst>
          </a:prstGeom>
          <a:solidFill>
            <a:srgbClr val="26324F"/>
          </a:solidFill>
          <a:ln w="17780">
            <a:solidFill>
              <a:srgbClr val="F4B63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28232" y="2240280"/>
            <a:ext cx="2029968" cy="274320"/>
          </a:xfrm>
          <a:prstGeom prst="roundRect">
            <a:avLst>
              <a:gd name="adj" fmla="val 50000"/>
            </a:avLst>
          </a:prstGeom>
          <a:solidFill>
            <a:srgbClr val="F4B63E"/>
          </a:solidFill>
          <a:ln w="12700">
            <a:solidFill>
              <a:srgbClr val="F4B63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28232" y="2249424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5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H₁  •  ALTERNATIVE HYPOTHESIS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28232" y="2770632"/>
            <a:ext cx="4709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Furniture's profit margin is significantly lower than that of other product categories.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66928" y="4370832"/>
            <a:ext cx="11073384" cy="1298448"/>
          </a:xfrm>
          <a:prstGeom prst="roundRect">
            <a:avLst>
              <a:gd name="adj" fmla="val 9859"/>
            </a:avLst>
          </a:prstGeom>
          <a:solidFill>
            <a:srgbClr val="111D38"/>
          </a:solidFill>
          <a:ln w="12700">
            <a:solidFill>
              <a:srgbClr val="3242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464515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F4B6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SELECTED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148840" y="46085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 Samples T-Test (Welch’s correction)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148840" y="4965192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8C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Comparing mean per-order profit margin (%) between Furniture orders and all other orders.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829800" y="4681728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22B8A7"/>
          </a:solidFill>
          <a:ln w="12700">
            <a:solidFill>
              <a:srgbClr val="22B8A7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29800" y="469087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5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α = 0.05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66928" y="6556248"/>
            <a:ext cx="10424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8A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Aakrti  |  Data Analytics Internship  |  ApexPlanet Software Pvt. Ltd.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80" kern="0" dirty="0">
                <a:solidFill>
                  <a:srgbClr val="3A6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4 · STATISTICAL VALIDATION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15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Test Confirms a Significant Gap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261872"/>
            <a:ext cx="11018520" cy="0"/>
          </a:xfrm>
          <a:prstGeom prst="line">
            <a:avLst/>
          </a:prstGeom>
          <a:noFill/>
          <a:ln w="13970">
            <a:solidFill>
              <a:srgbClr val="DDE4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3017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B87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1627632"/>
            <a:ext cx="5989320" cy="4370832"/>
          </a:xfrm>
          <a:prstGeom prst="roundRect">
            <a:avLst>
              <a:gd name="adj" fmla="val 2929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2.3828923048104974e+82" dist="1.1914461524052487e+82" dir="1.6452712980283393e+97">
              <a:srgbClr val="000000">
                <a:alpha val="1.4000000000000001e+99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901952"/>
            <a:ext cx="3108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7B87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AVG. PER-ORDER PROFIT MARGIN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05840" y="4663440"/>
            <a:ext cx="5074920" cy="0"/>
          </a:xfrm>
          <a:prstGeom prst="line">
            <a:avLst/>
          </a:prstGeom>
          <a:noFill/>
          <a:ln w="12700">
            <a:solidFill>
              <a:srgbClr val="DDE4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4082647"/>
            <a:ext cx="2436876" cy="580793"/>
          </a:xfrm>
          <a:prstGeom prst="roundRect">
            <a:avLst>
              <a:gd name="adj" fmla="val 9446"/>
            </a:avLst>
          </a:prstGeom>
          <a:solidFill>
            <a:srgbClr val="E56B5D"/>
          </a:solidFill>
          <a:ln w="12700">
            <a:solidFill>
              <a:srgbClr val="E56B5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3854047"/>
            <a:ext cx="25283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56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4.27%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32688" y="4828032"/>
            <a:ext cx="25831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260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Furniture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260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(n = 2,201)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643884" y="2703435"/>
            <a:ext cx="2436876" cy="1960005"/>
          </a:xfrm>
          <a:prstGeom prst="roundRect">
            <a:avLst>
              <a:gd name="adj" fmla="val 2799"/>
            </a:avLst>
          </a:prstGeom>
          <a:solidFill>
            <a:srgbClr val="3A63FF"/>
          </a:solidFill>
          <a:ln w="12700">
            <a:solidFill>
              <a:srgbClr val="3A63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98164" y="2474835"/>
            <a:ext cx="25283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6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14.41%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570732" y="4828032"/>
            <a:ext cx="25831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260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Other Categories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260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(n = 7,993)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914400" y="516636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B87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difference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286000" y="5111496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56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−10.15 points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086600" y="1737360"/>
            <a:ext cx="2057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7B87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T-STATISTIC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086600" y="2002536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3A6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−11.03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7086600" y="2450592"/>
            <a:ext cx="4297680" cy="0"/>
          </a:xfrm>
          <a:prstGeom prst="line">
            <a:avLst/>
          </a:prstGeom>
          <a:noFill/>
          <a:ln w="12700">
            <a:solidFill>
              <a:srgbClr val="DDE4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86600" y="2670048"/>
            <a:ext cx="2057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7B87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P-VALUE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086600" y="2935224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E56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5.8 × 10⁻²⁸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7086600" y="3383280"/>
            <a:ext cx="4297680" cy="0"/>
          </a:xfrm>
          <a:prstGeom prst="line">
            <a:avLst/>
          </a:prstGeom>
          <a:noFill/>
          <a:ln w="12700">
            <a:solidFill>
              <a:srgbClr val="DDE4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86600" y="3602736"/>
            <a:ext cx="2057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7B87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95% CONFIDENCE INTERVAL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086600" y="3867912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2B8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[−11.95, −8.34]</a:t>
            </a:r>
            <a:endParaRPr lang="en-US" sz="1900" dirty="0"/>
          </a:p>
        </p:txBody>
      </p:sp>
      <p:sp>
        <p:nvSpPr>
          <p:cNvPr id="25" name="Shape 23"/>
          <p:cNvSpPr/>
          <p:nvPr/>
        </p:nvSpPr>
        <p:spPr>
          <a:xfrm>
            <a:off x="7086600" y="4315968"/>
            <a:ext cx="4297680" cy="0"/>
          </a:xfrm>
          <a:prstGeom prst="line">
            <a:avLst/>
          </a:prstGeom>
          <a:noFill/>
          <a:ln w="12700">
            <a:solidFill>
              <a:srgbClr val="DDE4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59168" y="4690872"/>
            <a:ext cx="4389120" cy="1097280"/>
          </a:xfrm>
          <a:prstGeom prst="roundRect">
            <a:avLst>
              <a:gd name="adj" fmla="val 10000"/>
            </a:avLst>
          </a:prstGeom>
          <a:solidFill>
            <a:srgbClr val="E8F8F5"/>
          </a:solidFill>
          <a:ln w="12700">
            <a:solidFill>
              <a:srgbClr val="BEE7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96912" y="496519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22B8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296912" y="52120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5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Reject H₀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503920" y="5093208"/>
            <a:ext cx="2578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6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observed gap is statistically significant, not chance.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68680" y="6108192"/>
            <a:ext cx="10652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260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Note: the test uses per-order averages, while the category-level margin on the prior slide is an aggregate measure. Both indicate lower Furniture profitability.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66928" y="6556248"/>
            <a:ext cx="10424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7B87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Aakrti  |  Data Analytics Internship  |  ApexPlanet Software Pvt. Ltd.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80" kern="0" dirty="0">
                <a:solidFill>
                  <a:srgbClr val="3A6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4 · ROOT-CAUSE ANALYSIS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15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 All Furniture Is the Problem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261872"/>
            <a:ext cx="11018520" cy="0"/>
          </a:xfrm>
          <a:prstGeom prst="line">
            <a:avLst/>
          </a:prstGeom>
          <a:noFill/>
          <a:ln w="13970">
            <a:solidFill>
              <a:srgbClr val="DDE4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3017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B87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14264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260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 by Furniture sub-category, paired with average discount rate.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6720840" cy="3886200"/>
          </a:xfrm>
          <a:prstGeom prst="roundRect">
            <a:avLst>
              <a:gd name="adj" fmla="val 3294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3.0262732271093317e+86" dist="1.5131366135546659e+86" dir="9.871627788170037e+101">
              <a:srgbClr val="000000">
                <a:alpha val="1.4000000000000002e+104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41248" y="20848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7B87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 BY FURNITURE SUB-CATEGORY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4400" y="4709160"/>
            <a:ext cx="5806440" cy="0"/>
          </a:xfrm>
          <a:prstGeom prst="line">
            <a:avLst/>
          </a:prstGeom>
          <a:noFill/>
          <a:ln w="12700">
            <a:solidFill>
              <a:srgbClr val="DDE4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3174053"/>
            <a:ext cx="731520" cy="1535107"/>
          </a:xfrm>
          <a:prstGeom prst="roundRect">
            <a:avLst>
              <a:gd name="adj" fmla="val 6250"/>
            </a:avLst>
          </a:prstGeom>
          <a:solidFill>
            <a:srgbClr val="3A63FF"/>
          </a:solidFill>
          <a:ln w="12700">
            <a:solidFill>
              <a:srgbClr val="3A63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2918021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6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$27.2K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14400" y="4983480"/>
            <a:ext cx="987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6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Chairs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896112" y="5321808"/>
            <a:ext cx="987552" cy="274320"/>
          </a:xfrm>
          <a:prstGeom prst="roundRect">
            <a:avLst>
              <a:gd name="adj" fmla="val 50000"/>
            </a:avLst>
          </a:prstGeom>
          <a:solidFill>
            <a:srgbClr val="EAF0FF"/>
          </a:solidFill>
          <a:ln w="12700">
            <a:solidFill>
              <a:srgbClr val="EAF0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5330952"/>
            <a:ext cx="987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6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17% disc.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350008" y="3925818"/>
            <a:ext cx="731520" cy="783342"/>
          </a:xfrm>
          <a:prstGeom prst="roundRect">
            <a:avLst>
              <a:gd name="adj" fmla="val 6250"/>
            </a:avLst>
          </a:prstGeom>
          <a:solidFill>
            <a:srgbClr val="22B8A7"/>
          </a:solidFill>
          <a:ln w="12700">
            <a:solidFill>
              <a:srgbClr val="22B8A7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58568" y="366978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B8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$13.9K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40280" y="4983480"/>
            <a:ext cx="987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6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Furnishings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2221992" y="5321808"/>
            <a:ext cx="987552" cy="274320"/>
          </a:xfrm>
          <a:prstGeom prst="roundRect">
            <a:avLst>
              <a:gd name="adj" fmla="val 50000"/>
            </a:avLst>
          </a:prstGeom>
          <a:solidFill>
            <a:srgbClr val="EAF0FF"/>
          </a:solidFill>
          <a:ln w="12700">
            <a:solidFill>
              <a:srgbClr val="EAF0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21992" y="5330952"/>
            <a:ext cx="987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6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14% disc.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75888" y="4709160"/>
            <a:ext cx="731520" cy="204801"/>
          </a:xfrm>
          <a:prstGeom prst="roundRect">
            <a:avLst>
              <a:gd name="adj" fmla="val 22324"/>
            </a:avLst>
          </a:prstGeom>
          <a:solidFill>
            <a:srgbClr val="E56B5D"/>
          </a:solidFill>
          <a:ln w="12700">
            <a:solidFill>
              <a:srgbClr val="E56B5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84448" y="47823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56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−$3.6K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566160" y="4983480"/>
            <a:ext cx="987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6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Bookcases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3547872" y="5321808"/>
            <a:ext cx="987552" cy="274320"/>
          </a:xfrm>
          <a:prstGeom prst="roundRect">
            <a:avLst>
              <a:gd name="adj" fmla="val 50000"/>
            </a:avLst>
          </a:prstGeom>
          <a:solidFill>
            <a:srgbClr val="FCEAE7"/>
          </a:solidFill>
          <a:ln w="12700">
            <a:solidFill>
              <a:srgbClr val="FCEAE7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47872" y="5330952"/>
            <a:ext cx="987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56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22% disc.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001768" y="4709160"/>
            <a:ext cx="731520" cy="1001056"/>
          </a:xfrm>
          <a:prstGeom prst="roundRect">
            <a:avLst>
              <a:gd name="adj" fmla="val 6250"/>
            </a:avLst>
          </a:prstGeom>
          <a:solidFill>
            <a:srgbClr val="E56B5D"/>
          </a:solidFill>
          <a:ln w="12700">
            <a:solidFill>
              <a:srgbClr val="E56B5D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0328" y="47823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56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−$17.8K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92040" y="4983480"/>
            <a:ext cx="987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6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Tables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4873752" y="5321808"/>
            <a:ext cx="987552" cy="274320"/>
          </a:xfrm>
          <a:prstGeom prst="roundRect">
            <a:avLst>
              <a:gd name="adj" fmla="val 50000"/>
            </a:avLst>
          </a:prstGeom>
          <a:solidFill>
            <a:srgbClr val="FCEAE7"/>
          </a:solidFill>
          <a:ln w="12700">
            <a:solidFill>
              <a:srgbClr val="FCEAE7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73752" y="5330952"/>
            <a:ext cx="987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56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26% disc.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498080" y="1828800"/>
            <a:ext cx="4142232" cy="3886200"/>
          </a:xfrm>
          <a:prstGeom prst="roundRect">
            <a:avLst>
              <a:gd name="adj" fmla="val 3294"/>
            </a:avLst>
          </a:prstGeom>
          <a:solidFill>
            <a:srgbClr val="0B1530"/>
          </a:solidFill>
          <a:ln w="12700">
            <a:solidFill>
              <a:srgbClr val="0B1530">
                <a:alpha val="0"/>
              </a:srgbClr>
            </a:solidFill>
            <a:prstDash val="solid"/>
          </a:ln>
          <a:effectLst>
            <a:outerShdw sx="100000" sy="100000" kx="0" ky="0" algn="bl" rotWithShape="0" blurRad="3.8433669984288512e+90" dist="1.9216834992144256e+90" dir="5.9229766729020215e+106">
              <a:srgbClr val="000000">
                <a:alpha val="1.4e+109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772400" y="210312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F4B63E"/>
          </a:solidFill>
          <a:ln w="12700">
            <a:solidFill>
              <a:srgbClr val="F4B63E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0" y="2112264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5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PATTERN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772400" y="2670048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Chairs and Furnishings are healthy, profitable product lines.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772400" y="3566160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DCE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Tables and Bookcases are sold at 22–26% average discount and are net loss-making.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772400" y="4407408"/>
            <a:ext cx="34564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B6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 the category-level problem is concentrated in two sub-categories, not the whole Furniture portfolio.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66928" y="6556248"/>
            <a:ext cx="10424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7B87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Aakrti  |  Data Analytics Internship  |  ApexPlanet Software Pvt. Ltd.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80" kern="0" dirty="0">
                <a:solidFill>
                  <a:srgbClr val="3A6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4 · BUSINESS RECOMMENDATIONS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15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Business Should Do Next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261872"/>
            <a:ext cx="11018520" cy="0"/>
          </a:xfrm>
          <a:prstGeom prst="line">
            <a:avLst/>
          </a:prstGeom>
          <a:noFill/>
          <a:ln w="13970">
            <a:solidFill>
              <a:srgbClr val="DDE4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3017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B87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1664208"/>
            <a:ext cx="5276088" cy="1609344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4.8810760880046414e+94" dist="2.4405380440023207e+94" dir="3.553786003741213e+111">
              <a:srgbClr val="000000">
                <a:alpha val="1.4e+114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95528" y="1892808"/>
            <a:ext cx="411480" cy="274320"/>
          </a:xfrm>
          <a:prstGeom prst="roundRect">
            <a:avLst>
              <a:gd name="adj" fmla="val 50000"/>
            </a:avLst>
          </a:prstGeom>
          <a:solidFill>
            <a:srgbClr val="E56B5D"/>
          </a:solidFill>
          <a:ln w="12700">
            <a:solidFill>
              <a:srgbClr val="E56B5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901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389888" y="1874520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5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a discount cap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89888" y="2322576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0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Tables and Bookcases are net loss-making at 22–26% average discount. Pilot a lower threshold, such as 15%, and monitor margin recovery.</a:t>
            </a:r>
            <a:endParaRPr lang="en-US" sz="1070" dirty="0"/>
          </a:p>
        </p:txBody>
      </p:sp>
      <p:sp>
        <p:nvSpPr>
          <p:cNvPr id="11" name="Shape 9"/>
          <p:cNvSpPr/>
          <p:nvPr/>
        </p:nvSpPr>
        <p:spPr>
          <a:xfrm>
            <a:off x="6190488" y="1664208"/>
            <a:ext cx="5276088" cy="1609344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6.198966631765894e+98" dist="3.099483315882947e+98" dir="2.1322716022447277e+116">
              <a:srgbClr val="000000">
                <a:alpha val="1.4e+119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19088" y="1892808"/>
            <a:ext cx="411480" cy="274320"/>
          </a:xfrm>
          <a:prstGeom prst="roundRect">
            <a:avLst>
              <a:gd name="adj" fmla="val 50000"/>
            </a:avLst>
          </a:prstGeom>
          <a:solidFill>
            <a:srgbClr val="F4B63E"/>
          </a:solidFill>
          <a:ln w="12700">
            <a:solidFill>
              <a:srgbClr val="F4B63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19088" y="1901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013448" y="1874520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5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Tables supplier cost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013448" y="2322576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0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discount cap alone may not fix the ~$17.8K loss on Tables; supplier economics deserve a separate review.</a:t>
            </a:r>
            <a:endParaRPr lang="en-US" sz="1070" dirty="0"/>
          </a:p>
        </p:txBody>
      </p:sp>
      <p:sp>
        <p:nvSpPr>
          <p:cNvPr id="16" name="Shape 14"/>
          <p:cNvSpPr/>
          <p:nvPr/>
        </p:nvSpPr>
        <p:spPr>
          <a:xfrm>
            <a:off x="566928" y="3566160"/>
            <a:ext cx="5276088" cy="1609344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7.872687622342685e+102" dist="3.9363438111713427e+102" dir="1.2793629613468366e+121">
              <a:srgbClr val="000000">
                <a:alpha val="1.4e+124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95528" y="3794760"/>
            <a:ext cx="411480" cy="274320"/>
          </a:xfrm>
          <a:prstGeom prst="roundRect">
            <a:avLst>
              <a:gd name="adj" fmla="val 50000"/>
            </a:avLst>
          </a:prstGeom>
          <a:solidFill>
            <a:srgbClr val="22B8A7"/>
          </a:solidFill>
          <a:ln w="12700">
            <a:solidFill>
              <a:srgbClr val="22B8A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" y="3803904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389888" y="3776472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5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Redirect growth spend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89888" y="4224528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0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Technology and Office Supplies show 17%+ margins in the analysis; evaluate whether growth spend can be shifted toward these categories.</a:t>
            </a:r>
            <a:endParaRPr lang="en-US" sz="1070" dirty="0"/>
          </a:p>
        </p:txBody>
      </p:sp>
      <p:sp>
        <p:nvSpPr>
          <p:cNvPr id="21" name="Shape 19"/>
          <p:cNvSpPr/>
          <p:nvPr/>
        </p:nvSpPr>
        <p:spPr>
          <a:xfrm>
            <a:off x="6190488" y="3566160"/>
            <a:ext cx="5276088" cy="1609344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9.998313280375211e+106" dist="4.9991566401876055e+106" dir="7.67617776808102e+125">
              <a:srgbClr val="000000">
                <a:alpha val="1.4e+129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19088" y="3794760"/>
            <a:ext cx="411480" cy="274320"/>
          </a:xfrm>
          <a:prstGeom prst="roundRect">
            <a:avLst>
              <a:gd name="adj" fmla="val 50000"/>
            </a:avLst>
          </a:prstGeom>
          <a:solidFill>
            <a:srgbClr val="3A63FF"/>
          </a:solidFill>
          <a:ln w="12700">
            <a:solidFill>
              <a:srgbClr val="3A63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19088" y="3803904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013448" y="3776472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5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validation quarterly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013448" y="4224528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0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Re-run the same statistical test each quarter so margin erosion is identified early.</a:t>
            </a:r>
            <a:endParaRPr lang="en-US" sz="1070" dirty="0"/>
          </a:p>
        </p:txBody>
      </p:sp>
      <p:sp>
        <p:nvSpPr>
          <p:cNvPr id="26" name="Shape 24"/>
          <p:cNvSpPr/>
          <p:nvPr/>
        </p:nvSpPr>
        <p:spPr>
          <a:xfrm>
            <a:off x="566928" y="5559552"/>
            <a:ext cx="11064240" cy="566928"/>
          </a:xfrm>
          <a:prstGeom prst="roundRect">
            <a:avLst>
              <a:gd name="adj" fmla="val 22581"/>
            </a:avLst>
          </a:prstGeom>
          <a:solidFill>
            <a:srgbClr val="0B1530"/>
          </a:solidFill>
          <a:ln w="12700">
            <a:solidFill>
              <a:srgbClr val="0B1530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5724144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Principle: convert the validated finding into a monitored business action, then measure whether the intervention changes margins.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66928" y="6556248"/>
            <a:ext cx="10424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7B87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Aakrti  |  Data Analytics Internship  |  ApexPlanet Software Pvt. Ltd.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80" kern="0" dirty="0">
                <a:solidFill>
                  <a:srgbClr val="3A6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CAPSTONE · SKILLS &amp; TOOLS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15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Capabilities Built Across the Internship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261872"/>
            <a:ext cx="11018520" cy="0"/>
          </a:xfrm>
          <a:prstGeom prst="line">
            <a:avLst/>
          </a:prstGeom>
          <a:noFill/>
          <a:ln w="13970">
            <a:solidFill>
              <a:srgbClr val="DDE4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3017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B87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1691640"/>
            <a:ext cx="5276088" cy="1627632"/>
          </a:xfrm>
          <a:prstGeom prst="roundRect">
            <a:avLst>
              <a:gd name="adj" fmla="val 7865"/>
            </a:avLst>
          </a:prstGeom>
          <a:solidFill>
            <a:srgbClr val="EAF0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1.2697857866076517e+111" dist="6.348928933038258e+110" dir="4.605706660848612e+130">
              <a:srgbClr val="000000">
                <a:alpha val="1.4e+134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95528" y="1911096"/>
            <a:ext cx="411480" cy="274320"/>
          </a:xfrm>
          <a:prstGeom prst="roundRect">
            <a:avLst>
              <a:gd name="adj" fmla="val 50000"/>
            </a:avLst>
          </a:prstGeom>
          <a:solidFill>
            <a:srgbClr val="3A63FF"/>
          </a:solidFill>
          <a:ln w="12700">
            <a:solidFill>
              <a:srgbClr val="3A63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92024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389888" y="1874520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B15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Cleaning &amp; Preparation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389888" y="2331720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0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Python, Pandas and SQL used to inspect, de-duplicate and standardize over 6,000 raw records across two datasets.</a:t>
            </a:r>
            <a:endParaRPr lang="en-US" sz="1070" dirty="0"/>
          </a:p>
        </p:txBody>
      </p:sp>
      <p:sp>
        <p:nvSpPr>
          <p:cNvPr id="11" name="Shape 9"/>
          <p:cNvSpPr/>
          <p:nvPr/>
        </p:nvSpPr>
        <p:spPr>
          <a:xfrm>
            <a:off x="6190488" y="1691640"/>
            <a:ext cx="5276088" cy="1627632"/>
          </a:xfrm>
          <a:prstGeom prst="roundRect">
            <a:avLst>
              <a:gd name="adj" fmla="val 7865"/>
            </a:avLst>
          </a:prstGeom>
          <a:solidFill>
            <a:srgbClr val="E8F8F5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1.6126279489917177e+115" dist="8.063139744958588e+114" dir="2.763423996509167e+135">
              <a:srgbClr val="000000">
                <a:alpha val="1.4e+139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19088" y="1911096"/>
            <a:ext cx="411480" cy="274320"/>
          </a:xfrm>
          <a:prstGeom prst="roundRect">
            <a:avLst>
              <a:gd name="adj" fmla="val 50000"/>
            </a:avLst>
          </a:prstGeom>
          <a:solidFill>
            <a:srgbClr val="22B8A7"/>
          </a:solidFill>
          <a:ln w="12700">
            <a:solidFill>
              <a:srgbClr val="22B8A7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19088" y="192024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013448" y="1874520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B15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 Dashboards &amp; Visualization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013448" y="2331720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0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Excel dashboard (Task 2) and Tableau dashboard (Task 3) built with KPI cards, filters and drill-down analysis.</a:t>
            </a:r>
            <a:endParaRPr lang="en-US" sz="1070" dirty="0"/>
          </a:p>
        </p:txBody>
      </p:sp>
      <p:sp>
        <p:nvSpPr>
          <p:cNvPr id="16" name="Shape 14"/>
          <p:cNvSpPr/>
          <p:nvPr/>
        </p:nvSpPr>
        <p:spPr>
          <a:xfrm>
            <a:off x="566928" y="3611880"/>
            <a:ext cx="5276088" cy="1627632"/>
          </a:xfrm>
          <a:prstGeom prst="roundRect">
            <a:avLst>
              <a:gd name="adj" fmla="val 7865"/>
            </a:avLst>
          </a:prstGeom>
          <a:solidFill>
            <a:srgbClr val="FFF5DE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2.0480374952194813e+119" dist="1.0240187476097407e+119" dir="1.6580543979055002e+140">
              <a:srgbClr val="000000">
                <a:alpha val="1.3999999999999999e+144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95528" y="3831336"/>
            <a:ext cx="411480" cy="274320"/>
          </a:xfrm>
          <a:prstGeom prst="roundRect">
            <a:avLst>
              <a:gd name="adj" fmla="val 50000"/>
            </a:avLst>
          </a:prstGeom>
          <a:solidFill>
            <a:srgbClr val="F4B63E"/>
          </a:solidFill>
          <a:ln w="12700">
            <a:solidFill>
              <a:srgbClr val="F4B63E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" y="38404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389888" y="3794760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B15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Statistical Analysis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389888" y="4251960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0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Hypothesis formulation, Welch’s t-test, p-values and confidence intervals used to validate a business claim.</a:t>
            </a:r>
            <a:endParaRPr lang="en-US" sz="1070" dirty="0"/>
          </a:p>
        </p:txBody>
      </p:sp>
      <p:sp>
        <p:nvSpPr>
          <p:cNvPr id="21" name="Shape 19"/>
          <p:cNvSpPr/>
          <p:nvPr/>
        </p:nvSpPr>
        <p:spPr>
          <a:xfrm>
            <a:off x="6190488" y="3611880"/>
            <a:ext cx="5276088" cy="1627632"/>
          </a:xfrm>
          <a:prstGeom prst="roundRect">
            <a:avLst>
              <a:gd name="adj" fmla="val 7865"/>
            </a:avLst>
          </a:prstGeom>
          <a:solidFill>
            <a:srgbClr val="FCEAE7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2.6010076189287412e+123" dist="1.3005038094643706e+123" dir="9.948326387433002e+144">
              <a:srgbClr val="000000">
                <a:alpha val="1.4e+149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19088" y="3831336"/>
            <a:ext cx="411480" cy="274320"/>
          </a:xfrm>
          <a:prstGeom prst="roundRect">
            <a:avLst>
              <a:gd name="adj" fmla="val 50000"/>
            </a:avLst>
          </a:prstGeom>
          <a:solidFill>
            <a:srgbClr val="E56B5D"/>
          </a:solidFill>
          <a:ln w="12700">
            <a:solidFill>
              <a:srgbClr val="E56B5D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19088" y="38404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013448" y="3794760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B15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Storytelling &amp; Communication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7013448" y="4251960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260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Findings translated into a stakeholder-ready narrative with root-cause analysis and actionable recommendations.</a:t>
            </a:r>
            <a:endParaRPr lang="en-US" sz="1070" dirty="0"/>
          </a:p>
        </p:txBody>
      </p:sp>
      <p:sp>
        <p:nvSpPr>
          <p:cNvPr id="26" name="Text 24"/>
          <p:cNvSpPr/>
          <p:nvPr/>
        </p:nvSpPr>
        <p:spPr>
          <a:xfrm>
            <a:off x="566928" y="562356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7B87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325880" y="5559552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EAF0FF"/>
          </a:solidFill>
          <a:ln w="12700">
            <a:solidFill>
              <a:srgbClr val="EAF0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25880" y="556869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6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404872" y="5559552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E8F8F5"/>
          </a:solidFill>
          <a:ln w="12700">
            <a:solidFill>
              <a:srgbClr val="E8F8F5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404872" y="556869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B8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Pandas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483864" y="5559552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EAF0FF"/>
          </a:solidFill>
          <a:ln w="12700">
            <a:solidFill>
              <a:srgbClr val="EAF0F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83864" y="556869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6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62856" y="5559552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E8F8F5"/>
          </a:solidFill>
          <a:ln w="12700">
            <a:solidFill>
              <a:srgbClr val="E8F8F5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62856" y="556869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B8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Excel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641848" y="5559552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EAF0FF"/>
          </a:solidFill>
          <a:ln w="12700">
            <a:solidFill>
              <a:srgbClr val="EAF0FF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41848" y="556869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6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Tableau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720840" y="5559552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E8F8F5"/>
          </a:solidFill>
          <a:ln w="12700">
            <a:solidFill>
              <a:srgbClr val="E8F8F5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20840" y="556869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B8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Statistics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66928" y="6556248"/>
            <a:ext cx="10424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7B87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Aakrti  |  Data Analytics Internship  |  ApexPlanet Software Pvt. Ltd.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80" kern="0" dirty="0">
                <a:solidFill>
                  <a:srgbClr val="3A6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CAPSTONE · REFLECTION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15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Tool Usage to Analytical Thinking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261872"/>
            <a:ext cx="11018520" cy="0"/>
          </a:xfrm>
          <a:prstGeom prst="line">
            <a:avLst/>
          </a:prstGeom>
          <a:noFill/>
          <a:ln w="13970">
            <a:solidFill>
              <a:srgbClr val="DDE4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3017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B87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1426464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260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biggest shift across the internship was learning to connect technical work to a business question and then validate the conclusion.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212848"/>
            <a:ext cx="3401568" cy="2706624"/>
          </a:xfrm>
          <a:prstGeom prst="roundRect">
            <a:avLst>
              <a:gd name="adj" fmla="val 4730"/>
            </a:avLst>
          </a:prstGeom>
          <a:solidFill>
            <a:srgbClr val="EAF0FF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3.303279676039501e+127" dist="1.6516398380197506e+127" dir="5.968995832459801e+149">
              <a:srgbClr val="000000">
                <a:alpha val="1.4e+154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4672" y="2468880"/>
            <a:ext cx="987552" cy="274320"/>
          </a:xfrm>
          <a:prstGeom prst="roundRect">
            <a:avLst>
              <a:gd name="adj" fmla="val 50000"/>
            </a:avLst>
          </a:prstGeom>
          <a:solidFill>
            <a:srgbClr val="3A63FF"/>
          </a:solidFill>
          <a:ln w="12700">
            <a:solidFill>
              <a:srgbClr val="3A63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2478024"/>
            <a:ext cx="987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4672" y="2971800"/>
            <a:ext cx="287121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5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 repeatable workflow: clean with Python/Pandas and SQL, then communicate through Excel and Tableau.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4672" y="43708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7B87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Repeatable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251960" y="2212848"/>
            <a:ext cx="3401568" cy="2706624"/>
          </a:xfrm>
          <a:prstGeom prst="roundRect">
            <a:avLst>
              <a:gd name="adj" fmla="val 4730"/>
            </a:avLst>
          </a:prstGeom>
          <a:solidFill>
            <a:srgbClr val="E8F8F5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4.195165188570166e+131" dist="2.097582594285083e+131" dir="3.581397499475881e+154">
              <a:srgbClr val="000000">
                <a:alpha val="1.4e+159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89704" y="2468880"/>
            <a:ext cx="987552" cy="274320"/>
          </a:xfrm>
          <a:prstGeom prst="roundRect">
            <a:avLst>
              <a:gd name="adj" fmla="val 50000"/>
            </a:avLst>
          </a:prstGeom>
          <a:solidFill>
            <a:srgbClr val="22B8A7"/>
          </a:solidFill>
          <a:ln w="12700">
            <a:solidFill>
              <a:srgbClr val="22B8A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9704" y="2478024"/>
            <a:ext cx="987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ANALYTICAL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489704" y="2971800"/>
            <a:ext cx="287121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5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beyond “what happened?” to “why did it happen?” and “is the difference statistically meaningful?”.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489704" y="43708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7B87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 questions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936992" y="2212848"/>
            <a:ext cx="3401568" cy="2706624"/>
          </a:xfrm>
          <a:prstGeom prst="roundRect">
            <a:avLst>
              <a:gd name="adj" fmla="val 4730"/>
            </a:avLst>
          </a:prstGeom>
          <a:solidFill>
            <a:srgbClr val="FFF5DE"/>
          </a:solidFill>
          <a:ln w="12700">
            <a:solidFill>
              <a:srgbClr val="DDE4EF"/>
            </a:solidFill>
            <a:prstDash val="solid"/>
          </a:ln>
          <a:effectLst>
            <a:outerShdw sx="100000" sy="100000" kx="0" ky="0" algn="bl" rotWithShape="0" blurRad="5.327859789484111e+135" dist="2.6639298947420556e+135" dir="2.1488384996855287e+159">
              <a:srgbClr val="000000">
                <a:alpha val="1.4e+164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74736" y="2468880"/>
            <a:ext cx="987552" cy="274320"/>
          </a:xfrm>
          <a:prstGeom prst="roundRect">
            <a:avLst>
              <a:gd name="adj" fmla="val 50000"/>
            </a:avLst>
          </a:prstGeom>
          <a:solidFill>
            <a:srgbClr val="F4B63E"/>
          </a:solidFill>
          <a:ln w="12700">
            <a:solidFill>
              <a:srgbClr val="F4B63E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74736" y="2478024"/>
            <a:ext cx="987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174736" y="2971800"/>
            <a:ext cx="287121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5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validated findings into specific actions, assumptions and follow-up measurements rather than stopping at a dashboard.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174736" y="43708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7B87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 questions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66928" y="5285232"/>
            <a:ext cx="11064240" cy="658368"/>
          </a:xfrm>
          <a:prstGeom prst="roundRect">
            <a:avLst>
              <a:gd name="adj" fmla="val 19444"/>
            </a:avLst>
          </a:prstGeom>
          <a:solidFill>
            <a:srgbClr val="0B1530"/>
          </a:solidFill>
          <a:ln w="12700">
            <a:solidFill>
              <a:srgbClr val="0B1530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5477256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step: apply the same evidence-first workflow to new business domains and larger, less-structured datasets.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66928" y="6556248"/>
            <a:ext cx="10424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7B87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Aakrti  |  Data Analytics Internship  |  ApexPlanet Software Pvt. Ltd.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80" kern="0" dirty="0">
                <a:solidFill>
                  <a:srgbClr val="F4B6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CAPSTONE · PROJECT PORTFOLIO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Explore the Full Project Portfolio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261872"/>
            <a:ext cx="11018520" cy="0"/>
          </a:xfrm>
          <a:prstGeom prst="line">
            <a:avLst/>
          </a:prstGeom>
          <a:noFill/>
          <a:ln w="13970">
            <a:solidFill>
              <a:srgbClr val="3343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3017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EAB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141732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D9E1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repositories document the complete internship journey from data preparation through validation.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1993392"/>
            <a:ext cx="5276088" cy="1298448"/>
          </a:xfrm>
          <a:prstGeom prst="roundRect">
            <a:avLst>
              <a:gd name="adj" fmla="val 9155"/>
            </a:avLst>
          </a:prstGeom>
          <a:solidFill>
            <a:srgbClr val="142243"/>
          </a:solidFill>
          <a:ln w="12700">
            <a:solidFill>
              <a:srgbClr val="3342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" y="2212848"/>
            <a:ext cx="411480" cy="274320"/>
          </a:xfrm>
          <a:prstGeom prst="roundRect">
            <a:avLst>
              <a:gd name="adj" fmla="val 50000"/>
            </a:avLst>
          </a:prstGeom>
          <a:solidFill>
            <a:srgbClr val="3A63FF"/>
          </a:solidFill>
          <a:ln w="12700">
            <a:solidFill>
              <a:srgbClr val="3A63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222199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371600" y="2185416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1 — Data Cleaning</a:t>
            </a:r>
            <a:endParaRPr lang="en-US" sz="1450" dirty="0"/>
          </a:p>
        </p:txBody>
      </p:sp>
      <p:sp>
        <p:nvSpPr>
          <p:cNvPr id="11" name="Text 9">
            <a:hlinkClick r:id="rId1" tooltip=""/>
          </p:cNvPr>
          <p:cNvSpPr/>
          <p:nvPr/>
        </p:nvSpPr>
        <p:spPr>
          <a:xfrm>
            <a:off x="1371600" y="266090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u="sng" dirty="0">
                <a:solidFill>
                  <a:srgbClr val="3A63FF"/>
                </a:solidFill>
                <a:uFill>
                  <a:solidFill>
                    <a:srgbClr val="3A63FF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GitHub repository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90488" y="1993392"/>
            <a:ext cx="5276088" cy="1298448"/>
          </a:xfrm>
          <a:prstGeom prst="roundRect">
            <a:avLst>
              <a:gd name="adj" fmla="val 9155"/>
            </a:avLst>
          </a:prstGeom>
          <a:solidFill>
            <a:srgbClr val="142243"/>
          </a:solidFill>
          <a:ln w="12700">
            <a:solidFill>
              <a:srgbClr val="33426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9944" y="2212848"/>
            <a:ext cx="411480" cy="274320"/>
          </a:xfrm>
          <a:prstGeom prst="roundRect">
            <a:avLst>
              <a:gd name="adj" fmla="val 50000"/>
            </a:avLst>
          </a:prstGeom>
          <a:solidFill>
            <a:srgbClr val="22B8A7"/>
          </a:solidFill>
          <a:ln w="12700">
            <a:solidFill>
              <a:srgbClr val="22B8A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9944" y="222199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995160" y="2185416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2 — EDA &amp; BI Dashboard</a:t>
            </a:r>
            <a:endParaRPr lang="en-US" sz="1450" dirty="0"/>
          </a:p>
        </p:txBody>
      </p:sp>
      <p:sp>
        <p:nvSpPr>
          <p:cNvPr id="16" name="Text 14">
            <a:hlinkClick r:id="rId2" tooltip=""/>
          </p:cNvPr>
          <p:cNvSpPr/>
          <p:nvPr/>
        </p:nvSpPr>
        <p:spPr>
          <a:xfrm>
            <a:off x="6995160" y="266090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u="sng" dirty="0">
                <a:solidFill>
                  <a:srgbClr val="3A63FF"/>
                </a:solidFill>
                <a:uFill>
                  <a:solidFill>
                    <a:srgbClr val="3A63FF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GitHub repository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" y="3621024"/>
            <a:ext cx="5276088" cy="1298448"/>
          </a:xfrm>
          <a:prstGeom prst="roundRect">
            <a:avLst>
              <a:gd name="adj" fmla="val 9155"/>
            </a:avLst>
          </a:prstGeom>
          <a:solidFill>
            <a:srgbClr val="142243"/>
          </a:solidFill>
          <a:ln w="12700">
            <a:solidFill>
              <a:srgbClr val="33426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6384" y="3840480"/>
            <a:ext cx="411480" cy="274320"/>
          </a:xfrm>
          <a:prstGeom prst="roundRect">
            <a:avLst>
              <a:gd name="adj" fmla="val 50000"/>
            </a:avLst>
          </a:prstGeom>
          <a:solidFill>
            <a:srgbClr val="F4B63E"/>
          </a:solidFill>
          <a:ln w="12700">
            <a:solidFill>
              <a:srgbClr val="F4B63E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" y="3849624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371600" y="381304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3 — Deep-Dive Dashboard</a:t>
            </a:r>
            <a:endParaRPr lang="en-US" sz="1450" dirty="0"/>
          </a:p>
        </p:txBody>
      </p:sp>
      <p:sp>
        <p:nvSpPr>
          <p:cNvPr id="21" name="Text 19">
            <a:hlinkClick r:id="rId3" tooltip=""/>
          </p:cNvPr>
          <p:cNvSpPr/>
          <p:nvPr/>
        </p:nvSpPr>
        <p:spPr>
          <a:xfrm>
            <a:off x="1371600" y="428853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u="sng" dirty="0">
                <a:solidFill>
                  <a:srgbClr val="3A63FF"/>
                </a:solidFill>
                <a:uFill>
                  <a:solidFill>
                    <a:srgbClr val="3A63FF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GitHub repository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90488" y="3621024"/>
            <a:ext cx="5276088" cy="1298448"/>
          </a:xfrm>
          <a:prstGeom prst="roundRect">
            <a:avLst>
              <a:gd name="adj" fmla="val 9155"/>
            </a:avLst>
          </a:prstGeom>
          <a:solidFill>
            <a:srgbClr val="142243"/>
          </a:solidFill>
          <a:ln w="12700">
            <a:solidFill>
              <a:srgbClr val="33426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9944" y="3840480"/>
            <a:ext cx="411480" cy="274320"/>
          </a:xfrm>
          <a:prstGeom prst="roundRect">
            <a:avLst>
              <a:gd name="adj" fmla="val 50000"/>
            </a:avLst>
          </a:prstGeom>
          <a:solidFill>
            <a:srgbClr val="E56B5D"/>
          </a:solidFill>
          <a:ln w="12700">
            <a:solidFill>
              <a:srgbClr val="E56B5D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9944" y="3849624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995160" y="381304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4 — Storytelling &amp; Validation</a:t>
            </a:r>
            <a:endParaRPr lang="en-US" sz="1450" dirty="0"/>
          </a:p>
        </p:txBody>
      </p:sp>
      <p:sp>
        <p:nvSpPr>
          <p:cNvPr id="26" name="Text 24">
            <a:hlinkClick r:id="rId4" tooltip=""/>
          </p:cNvPr>
          <p:cNvSpPr/>
          <p:nvPr/>
        </p:nvSpPr>
        <p:spPr>
          <a:xfrm>
            <a:off x="6995160" y="428853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u="sng" dirty="0">
                <a:solidFill>
                  <a:srgbClr val="3A63FF"/>
                </a:solidFill>
                <a:uFill>
                  <a:solidFill>
                    <a:srgbClr val="3A63FF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GitHub repository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66928" y="555955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F4B6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 PORTFOLIO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148840" y="5522976"/>
            <a:ext cx="8641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capstone deck becomes the presentation layer for the final master GitHub portfolio.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66928" y="6556248"/>
            <a:ext cx="10424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8A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Aakrti  |  Data Analytics Internship  |  ApexPlanet Software Pvt. Ltd.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914400"/>
            <a:ext cx="109728" cy="4983480"/>
          </a:xfrm>
          <a:prstGeom prst="rect">
            <a:avLst/>
          </a:prstGeom>
          <a:solidFill>
            <a:srgbClr val="F4B63E"/>
          </a:solidFill>
          <a:ln w="12700">
            <a:solidFill>
              <a:srgbClr val="F4B63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10515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70" kern="0" dirty="0">
                <a:solidFill>
                  <a:srgbClr val="F4B6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CAPSTONE PORTFOLIO  •  APEXPLANET INTERNSHIP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1874520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60120" y="2697480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D9E1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tasks. One analytical journey.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D9E1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raw data to validated business decisions.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543800" y="1417320"/>
            <a:ext cx="3401568" cy="3401568"/>
          </a:xfrm>
          <a:prstGeom prst="roundRect">
            <a:avLst>
              <a:gd name="adj" fmla="val 5376"/>
            </a:avLst>
          </a:prstGeom>
          <a:solidFill>
            <a:srgbClr val="142243"/>
          </a:solidFill>
          <a:ln w="12700">
            <a:solidFill>
              <a:srgbClr val="3342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18704" y="1975104"/>
            <a:ext cx="438912" cy="0"/>
          </a:xfrm>
          <a:prstGeom prst="line">
            <a:avLst/>
          </a:prstGeom>
          <a:noFill/>
          <a:ln w="50800">
            <a:solidFill>
              <a:srgbClr val="3A6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49640" y="181051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918704" y="2615184"/>
            <a:ext cx="438912" cy="0"/>
          </a:xfrm>
          <a:prstGeom prst="line">
            <a:avLst/>
          </a:prstGeom>
          <a:noFill/>
          <a:ln w="50800">
            <a:solidFill>
              <a:srgbClr val="22B8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49640" y="245059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918704" y="3255264"/>
            <a:ext cx="438912" cy="0"/>
          </a:xfrm>
          <a:prstGeom prst="line">
            <a:avLst/>
          </a:prstGeom>
          <a:noFill/>
          <a:ln w="50800">
            <a:solidFill>
              <a:srgbClr val="F4B6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49640" y="309067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DEEP-DIVE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918704" y="3895344"/>
            <a:ext cx="438912" cy="0"/>
          </a:xfrm>
          <a:prstGeom prst="line">
            <a:avLst/>
          </a:prstGeom>
          <a:noFill/>
          <a:ln w="50800">
            <a:solidFill>
              <a:srgbClr val="E56B5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49640" y="373075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55778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Aakrti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5879592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9A8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Analytics Internship  |  ApexPlanet Software Pvt. Ltd.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66928" y="6556248"/>
            <a:ext cx="10424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8A6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Capstone Portfolio  |  Aakrti  |  ApexPlanet Software Pvt. Ltd.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ApexPlanet Software Pvt. 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Portfolio &amp; Data Storytelling</dc:title>
  <dc:subject>Capstone Portfolio &amp; Data Storytelling</dc:subject>
  <dc:creator>Aakrti</dc:creator>
  <cp:lastModifiedBy>Aakrti</cp:lastModifiedBy>
  <cp:revision>1</cp:revision>
  <dcterms:created xsi:type="dcterms:W3CDTF">2026-09-16T08:50:11Z</dcterms:created>
  <dcterms:modified xsi:type="dcterms:W3CDTF">2026-09-16T08:50:11Z</dcterms:modified>
</cp:coreProperties>
</file>